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Bebas Neue Bold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  <p:embeddedFont>
      <p:font typeface="Inter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32.png"/><Relationship Id="rId3" Type="http://schemas.openxmlformats.org/officeDocument/2006/relationships/image" Target="../media/image109.png"/><Relationship Id="rId21" Type="http://schemas.openxmlformats.org/officeDocument/2006/relationships/image" Target="../media/image127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2" Type="http://schemas.openxmlformats.org/officeDocument/2006/relationships/image" Target="../media/image108.png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008086" y="5564382"/>
            <a:ext cx="5676718" cy="3651284"/>
          </a:xfrm>
          <a:custGeom>
            <a:avLst/>
            <a:gdLst/>
            <a:ahLst/>
            <a:cxnLst/>
            <a:rect l="l" t="t" r="r" b="b"/>
            <a:pathLst>
              <a:path w="5676718" h="3651284">
                <a:moveTo>
                  <a:pt x="0" y="0"/>
                </a:moveTo>
                <a:lnTo>
                  <a:pt x="5676718" y="0"/>
                </a:lnTo>
                <a:lnTo>
                  <a:pt x="567671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622220" y="6854356"/>
            <a:ext cx="5665780" cy="2361309"/>
          </a:xfrm>
          <a:custGeom>
            <a:avLst/>
            <a:gdLst/>
            <a:ahLst/>
            <a:cxnLst/>
            <a:rect l="l" t="t" r="r" b="b"/>
            <a:pathLst>
              <a:path w="5665780" h="2361309">
                <a:moveTo>
                  <a:pt x="0" y="0"/>
                </a:moveTo>
                <a:lnTo>
                  <a:pt x="5665780" y="0"/>
                </a:lnTo>
                <a:lnTo>
                  <a:pt x="566578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1320622" y="207708"/>
            <a:ext cx="1531292" cy="6231233"/>
          </a:xfrm>
          <a:custGeom>
            <a:avLst/>
            <a:gdLst/>
            <a:ahLst/>
            <a:cxnLst/>
            <a:rect l="l" t="t" r="r" b="b"/>
            <a:pathLst>
              <a:path w="1531292" h="6231233">
                <a:moveTo>
                  <a:pt x="0" y="0"/>
                </a:moveTo>
                <a:lnTo>
                  <a:pt x="1531292" y="0"/>
                </a:lnTo>
                <a:lnTo>
                  <a:pt x="1531292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3059732" y="1924030"/>
            <a:ext cx="2187560" cy="4514911"/>
          </a:xfrm>
          <a:custGeom>
            <a:avLst/>
            <a:gdLst/>
            <a:ahLst/>
            <a:cxnLst/>
            <a:rect l="l" t="t" r="r" b="b"/>
            <a:pathLst>
              <a:path w="2187560" h="4514911">
                <a:moveTo>
                  <a:pt x="0" y="0"/>
                </a:moveTo>
                <a:lnTo>
                  <a:pt x="2187560" y="0"/>
                </a:lnTo>
                <a:lnTo>
                  <a:pt x="218756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923818" y="4493047"/>
            <a:ext cx="4364182" cy="3651284"/>
          </a:xfrm>
          <a:custGeom>
            <a:avLst/>
            <a:gdLst/>
            <a:ahLst/>
            <a:cxnLst/>
            <a:rect l="l" t="t" r="r" b="b"/>
            <a:pathLst>
              <a:path w="4364182" h="3651284">
                <a:moveTo>
                  <a:pt x="0" y="0"/>
                </a:moveTo>
                <a:lnTo>
                  <a:pt x="4364182" y="0"/>
                </a:lnTo>
                <a:lnTo>
                  <a:pt x="4364182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8706488" y="7925691"/>
            <a:ext cx="7404890" cy="1934962"/>
          </a:xfrm>
          <a:custGeom>
            <a:avLst/>
            <a:gdLst/>
            <a:ahLst/>
            <a:cxnLst/>
            <a:rect l="l" t="t" r="r" b="b"/>
            <a:pathLst>
              <a:path w="7404890" h="1934962">
                <a:moveTo>
                  <a:pt x="0" y="0"/>
                </a:moveTo>
                <a:lnTo>
                  <a:pt x="7404890" y="0"/>
                </a:lnTo>
                <a:lnTo>
                  <a:pt x="740489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804126" y="1894952"/>
            <a:ext cx="7991329" cy="141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0"/>
              </a:lnSpc>
            </a:pPr>
            <a:r>
              <a:rPr lang="en-US" sz="10650" b="1" spc="213">
                <a:solidFill>
                  <a:srgbClr val="07070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SUGAR COSMETICS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7088" y="3252121"/>
            <a:ext cx="6695126" cy="185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11"/>
              </a:lnSpc>
            </a:pPr>
            <a:r>
              <a:rPr lang="en-US" sz="14011" b="1" spc="280">
                <a:solidFill>
                  <a:srgbClr val="DB175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INSTAGRAM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9430" y="4863631"/>
            <a:ext cx="8460919" cy="185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11"/>
              </a:lnSpc>
            </a:pPr>
            <a:r>
              <a:rPr lang="en-US" sz="14011" b="1" spc="280">
                <a:solidFill>
                  <a:srgbClr val="07070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PERFORMANCE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4086" y="6428009"/>
            <a:ext cx="4364182" cy="218640"/>
          </a:xfrm>
          <a:custGeom>
            <a:avLst/>
            <a:gdLst/>
            <a:ahLst/>
            <a:cxnLst/>
            <a:rect l="l" t="t" r="r" b="b"/>
            <a:pathLst>
              <a:path w="4364182" h="218640">
                <a:moveTo>
                  <a:pt x="0" y="0"/>
                </a:moveTo>
                <a:lnTo>
                  <a:pt x="4364182" y="0"/>
                </a:lnTo>
                <a:lnTo>
                  <a:pt x="436418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51578" y="6943580"/>
            <a:ext cx="5925058" cy="4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66">
                <a:solidFill>
                  <a:srgbClr val="070707"/>
                </a:solidFill>
                <a:latin typeface="Inter Bold"/>
                <a:ea typeface="Inter Bold"/>
                <a:cs typeface="Inter Bold"/>
                <a:sym typeface="Inter Bold"/>
              </a:rPr>
              <a:t>INSIGHTS AND STRATEGY</a:t>
            </a:r>
          </a:p>
        </p:txBody>
      </p:sp>
      <p:sp>
        <p:nvSpPr>
          <p:cNvPr id="14" name="Freeform 14"/>
          <p:cNvSpPr/>
          <p:nvPr/>
        </p:nvSpPr>
        <p:spPr>
          <a:xfrm>
            <a:off x="864086" y="7499343"/>
            <a:ext cx="5239206" cy="863627"/>
          </a:xfrm>
          <a:custGeom>
            <a:avLst/>
            <a:gdLst/>
            <a:ahLst/>
            <a:cxnLst/>
            <a:rect l="l" t="t" r="r" b="b"/>
            <a:pathLst>
              <a:path w="5239206" h="863627">
                <a:moveTo>
                  <a:pt x="0" y="0"/>
                </a:moveTo>
                <a:lnTo>
                  <a:pt x="5239206" y="0"/>
                </a:lnTo>
                <a:lnTo>
                  <a:pt x="5239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78385" y="7837482"/>
            <a:ext cx="4675607" cy="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55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APRIL 2024 - APRIL 2025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468774" y="9631492"/>
            <a:ext cx="4021784" cy="2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b="1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Sugar Cosmetics | Instagram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2142670"/>
            <a:ext cx="1968804" cy="7072996"/>
          </a:xfrm>
          <a:custGeom>
            <a:avLst/>
            <a:gdLst/>
            <a:ahLst/>
            <a:cxnLst/>
            <a:rect l="l" t="t" r="r" b="b"/>
            <a:pathLst>
              <a:path w="1968804" h="7072996">
                <a:moveTo>
                  <a:pt x="0" y="0"/>
                </a:moveTo>
                <a:lnTo>
                  <a:pt x="1968804" y="0"/>
                </a:lnTo>
                <a:lnTo>
                  <a:pt x="1968804" y="7072995"/>
                </a:lnTo>
                <a:lnTo>
                  <a:pt x="0" y="707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746758" y="852716"/>
            <a:ext cx="4810903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>
                <a:solidFill>
                  <a:srgbClr val="1B1B1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ACCOUNT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9897" y="1937096"/>
            <a:ext cx="4497046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>
                <a:solidFill>
                  <a:srgbClr val="DD235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AT A GLANCE</a:t>
            </a:r>
          </a:p>
        </p:txBody>
      </p:sp>
      <p:sp>
        <p:nvSpPr>
          <p:cNvPr id="8" name="Freeform 8"/>
          <p:cNvSpPr/>
          <p:nvPr/>
        </p:nvSpPr>
        <p:spPr>
          <a:xfrm>
            <a:off x="1739110" y="2995365"/>
            <a:ext cx="2832890" cy="1300906"/>
          </a:xfrm>
          <a:custGeom>
            <a:avLst/>
            <a:gdLst/>
            <a:ahLst/>
            <a:cxnLst/>
            <a:rect l="l" t="t" r="r" b="b"/>
            <a:pathLst>
              <a:path w="2832890" h="1300906">
                <a:moveTo>
                  <a:pt x="0" y="0"/>
                </a:moveTo>
                <a:lnTo>
                  <a:pt x="2832890" y="0"/>
                </a:lnTo>
                <a:lnTo>
                  <a:pt x="283289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080538" y="3396767"/>
            <a:ext cx="900877" cy="76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9"/>
              </a:lnSpc>
            </a:pPr>
            <a:r>
              <a:rPr lang="en-US" sz="5729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50K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53244" y="2995365"/>
            <a:ext cx="3707914" cy="1300906"/>
          </a:xfrm>
          <a:custGeom>
            <a:avLst/>
            <a:gdLst/>
            <a:ahLst/>
            <a:cxnLst/>
            <a:rect l="l" t="t" r="r" b="b"/>
            <a:pathLst>
              <a:path w="3707914" h="1300906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815494" y="3525295"/>
            <a:ext cx="653746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posts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39110" y="4066699"/>
            <a:ext cx="2832890" cy="1300906"/>
          </a:xfrm>
          <a:custGeom>
            <a:avLst/>
            <a:gdLst/>
            <a:ahLst/>
            <a:cxnLst/>
            <a:rect l="l" t="t" r="r" b="b"/>
            <a:pathLst>
              <a:path w="2832890" h="1300906">
                <a:moveTo>
                  <a:pt x="0" y="0"/>
                </a:moveTo>
                <a:lnTo>
                  <a:pt x="2832890" y="0"/>
                </a:lnTo>
                <a:lnTo>
                  <a:pt x="283289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069326" y="4466087"/>
            <a:ext cx="2022117" cy="76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9"/>
              </a:lnSpc>
            </a:pPr>
            <a:r>
              <a:rPr lang="en-US" sz="5729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987.42M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53244" y="4066699"/>
            <a:ext cx="3707914" cy="1300906"/>
          </a:xfrm>
          <a:custGeom>
            <a:avLst/>
            <a:gdLst/>
            <a:ahLst/>
            <a:cxnLst/>
            <a:rect l="l" t="t" r="r" b="b"/>
            <a:pathLst>
              <a:path w="3707914" h="1300906">
                <a:moveTo>
                  <a:pt x="0" y="0"/>
                </a:moveTo>
                <a:lnTo>
                  <a:pt x="3707914" y="0"/>
                </a:lnTo>
                <a:lnTo>
                  <a:pt x="370791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4815326" y="4609676"/>
            <a:ext cx="670506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reach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9110" y="5138034"/>
            <a:ext cx="2832890" cy="1300906"/>
          </a:xfrm>
          <a:custGeom>
            <a:avLst/>
            <a:gdLst/>
            <a:ahLst/>
            <a:cxnLst/>
            <a:rect l="l" t="t" r="r" b="b"/>
            <a:pathLst>
              <a:path w="2832890" h="1300906">
                <a:moveTo>
                  <a:pt x="0" y="0"/>
                </a:moveTo>
                <a:lnTo>
                  <a:pt x="2832890" y="0"/>
                </a:lnTo>
                <a:lnTo>
                  <a:pt x="283289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2069819" y="5565961"/>
            <a:ext cx="1972786" cy="74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147.73M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53244" y="5138034"/>
            <a:ext cx="3707914" cy="1300906"/>
          </a:xfrm>
          <a:custGeom>
            <a:avLst/>
            <a:gdLst/>
            <a:ahLst/>
            <a:cxnLst/>
            <a:rect l="l" t="t" r="r" b="b"/>
            <a:pathLst>
              <a:path w="3707914" h="1300906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739110" y="6209369"/>
            <a:ext cx="2832890" cy="1300906"/>
          </a:xfrm>
          <a:custGeom>
            <a:avLst/>
            <a:gdLst/>
            <a:ahLst/>
            <a:cxnLst/>
            <a:rect l="l" t="t" r="r" b="b"/>
            <a:pathLst>
              <a:path w="2832890" h="1300906">
                <a:moveTo>
                  <a:pt x="0" y="0"/>
                </a:moveTo>
                <a:lnTo>
                  <a:pt x="2832890" y="0"/>
                </a:lnTo>
                <a:lnTo>
                  <a:pt x="283289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2072705" y="6665402"/>
            <a:ext cx="1684192" cy="74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18.46M</a:t>
            </a:r>
          </a:p>
        </p:txBody>
      </p:sp>
      <p:sp>
        <p:nvSpPr>
          <p:cNvPr id="21" name="Freeform 21"/>
          <p:cNvSpPr/>
          <p:nvPr/>
        </p:nvSpPr>
        <p:spPr>
          <a:xfrm>
            <a:off x="4353244" y="6209369"/>
            <a:ext cx="3707914" cy="1300906"/>
          </a:xfrm>
          <a:custGeom>
            <a:avLst/>
            <a:gdLst/>
            <a:ahLst/>
            <a:cxnLst/>
            <a:rect l="l" t="t" r="r" b="b"/>
            <a:pathLst>
              <a:path w="3707914" h="1300906">
                <a:moveTo>
                  <a:pt x="0" y="0"/>
                </a:moveTo>
                <a:lnTo>
                  <a:pt x="3707914" y="0"/>
                </a:lnTo>
                <a:lnTo>
                  <a:pt x="370791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4810294" y="6833830"/>
            <a:ext cx="1173698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comments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739110" y="7499343"/>
            <a:ext cx="2832890" cy="1082267"/>
          </a:xfrm>
          <a:custGeom>
            <a:avLst/>
            <a:gdLst/>
            <a:ahLst/>
            <a:cxnLst/>
            <a:rect l="l" t="t" r="r" b="b"/>
            <a:pathLst>
              <a:path w="2832890" h="1082267">
                <a:moveTo>
                  <a:pt x="0" y="0"/>
                </a:moveTo>
                <a:lnTo>
                  <a:pt x="2832890" y="0"/>
                </a:lnTo>
                <a:lnTo>
                  <a:pt x="283289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2072078" y="7794965"/>
            <a:ext cx="1746866" cy="74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b="1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18.55%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53244" y="7499343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4795264" y="7937830"/>
            <a:ext cx="2676734" cy="22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740" b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average engagement rate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7438" y="9635146"/>
            <a:ext cx="4155453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Sugar Cosmetics | Instagram Insights</a:t>
            </a:r>
          </a:p>
        </p:txBody>
      </p:sp>
      <p:sp>
        <p:nvSpPr>
          <p:cNvPr id="28" name="Freeform 28"/>
          <p:cNvSpPr/>
          <p:nvPr/>
        </p:nvSpPr>
        <p:spPr>
          <a:xfrm>
            <a:off x="8268976" y="426348"/>
            <a:ext cx="9373694" cy="8155262"/>
          </a:xfrm>
          <a:custGeom>
            <a:avLst/>
            <a:gdLst/>
            <a:ahLst/>
            <a:cxnLst/>
            <a:rect l="l" t="t" r="r" b="b"/>
            <a:pathLst>
              <a:path w="9373694" h="8155262">
                <a:moveTo>
                  <a:pt x="0" y="0"/>
                </a:moveTo>
                <a:lnTo>
                  <a:pt x="9373694" y="0"/>
                </a:lnTo>
                <a:lnTo>
                  <a:pt x="9373694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8769654" y="1055317"/>
            <a:ext cx="1715872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Overview KPIs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5236354" y="852695"/>
            <a:ext cx="1968804" cy="655919"/>
          </a:xfrm>
          <a:custGeom>
            <a:avLst/>
            <a:gdLst/>
            <a:ahLst/>
            <a:cxnLst/>
            <a:rect l="l" t="t" r="r" b="b"/>
            <a:pathLst>
              <a:path w="1968804" h="655919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15236354" y="1071335"/>
            <a:ext cx="448450" cy="218640"/>
          </a:xfrm>
          <a:custGeom>
            <a:avLst/>
            <a:gdLst/>
            <a:ahLst/>
            <a:cxnLst/>
            <a:rect l="l" t="t" r="r" b="b"/>
            <a:pathLst>
              <a:path w="448450" h="218640">
                <a:moveTo>
                  <a:pt x="0" y="0"/>
                </a:moveTo>
                <a:lnTo>
                  <a:pt x="448450" y="0"/>
                </a:lnTo>
                <a:lnTo>
                  <a:pt x="448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6975464" y="1071335"/>
            <a:ext cx="229694" cy="218640"/>
          </a:xfrm>
          <a:custGeom>
            <a:avLst/>
            <a:gdLst/>
            <a:ahLst/>
            <a:cxnLst/>
            <a:rect l="l" t="t" r="r" b="b"/>
            <a:pathLst>
              <a:path w="229694" h="218640">
                <a:moveTo>
                  <a:pt x="0" y="0"/>
                </a:moveTo>
                <a:lnTo>
                  <a:pt x="229694" y="0"/>
                </a:lnTo>
                <a:lnTo>
                  <a:pt x="229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8706488" y="1705390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0226842" y="1705390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10501312" y="2430061"/>
            <a:ext cx="1339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987.42M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965952" y="1705390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12296180" y="2430061"/>
            <a:ext cx="1339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147.73M</a:t>
            </a:r>
          </a:p>
        </p:txBody>
      </p:sp>
      <p:sp>
        <p:nvSpPr>
          <p:cNvPr id="38" name="Freeform 38"/>
          <p:cNvSpPr/>
          <p:nvPr/>
        </p:nvSpPr>
        <p:spPr>
          <a:xfrm>
            <a:off x="13716000" y="1705390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14037469" y="2430061"/>
            <a:ext cx="1339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18.46M</a:t>
            </a:r>
          </a:p>
        </p:txBody>
      </p:sp>
      <p:sp>
        <p:nvSpPr>
          <p:cNvPr id="40" name="Freeform 40"/>
          <p:cNvSpPr/>
          <p:nvPr/>
        </p:nvSpPr>
        <p:spPr>
          <a:xfrm>
            <a:off x="15455110" y="1705390"/>
            <a:ext cx="1968804" cy="1300906"/>
          </a:xfrm>
          <a:custGeom>
            <a:avLst/>
            <a:gdLst/>
            <a:ahLst/>
            <a:cxnLst/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5698391" y="2430061"/>
            <a:ext cx="1339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18.55%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37659" y="4449938"/>
            <a:ext cx="823896" cy="21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b="1">
                <a:solidFill>
                  <a:srgbClr val="E8529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147.73M</a:t>
            </a:r>
          </a:p>
        </p:txBody>
      </p:sp>
      <p:sp>
        <p:nvSpPr>
          <p:cNvPr id="43" name="Freeform 43"/>
          <p:cNvSpPr/>
          <p:nvPr/>
        </p:nvSpPr>
        <p:spPr>
          <a:xfrm>
            <a:off x="11528440" y="4066699"/>
            <a:ext cx="5895474" cy="2372241"/>
          </a:xfrm>
          <a:custGeom>
            <a:avLst/>
            <a:gdLst/>
            <a:ahLst/>
            <a:cxnLst/>
            <a:rect l="l" t="t" r="r" b="b"/>
            <a:pathLst>
              <a:path w="5895474" h="2372241">
                <a:moveTo>
                  <a:pt x="0" y="0"/>
                </a:moveTo>
                <a:lnTo>
                  <a:pt x="5895474" y="0"/>
                </a:lnTo>
                <a:lnTo>
                  <a:pt x="589547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8771555" y="7086210"/>
            <a:ext cx="1525769" cy="15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Audience Snapshot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80111" y="7984101"/>
            <a:ext cx="670176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8F4DC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XX.XM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35712" y="7984101"/>
            <a:ext cx="670176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E4499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XX.XM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64386" y="7984101"/>
            <a:ext cx="684062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F0B25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XX.X%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451998" y="7086210"/>
            <a:ext cx="1409535" cy="15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Content Snapshot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59253" y="7984101"/>
            <a:ext cx="684062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66D8C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XX.X%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332072" y="7554281"/>
            <a:ext cx="925654" cy="447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Top Performing Post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334488" y="7984101"/>
            <a:ext cx="684062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E4499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XX.X%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632423" y="1065847"/>
            <a:ext cx="1238953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124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Apr 2024 - Apr 2025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97842" y="1879133"/>
            <a:ext cx="328289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Posts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497609" y="1879133"/>
            <a:ext cx="37039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Reach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93095" y="1879133"/>
            <a:ext cx="30844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Likes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031041" y="1879133"/>
            <a:ext cx="642770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Comments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85006" y="1879026"/>
            <a:ext cx="1338453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Avg. Engagement Rate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001125" y="2430061"/>
            <a:ext cx="1339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50K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768157" y="3561973"/>
            <a:ext cx="1865514" cy="15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b="1">
                <a:solidFill>
                  <a:srgbClr val="1B1B1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Performance Over Time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783109" y="4047894"/>
            <a:ext cx="37039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Reach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2814" y="4047894"/>
            <a:ext cx="30844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Likes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778031" y="4449938"/>
            <a:ext cx="878168" cy="21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b="1">
                <a:solidFill>
                  <a:srgbClr val="914DD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987.42M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776208" y="4564313"/>
            <a:ext cx="106042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1- vs previous period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035294" y="4564313"/>
            <a:ext cx="1060428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B1B1B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1- vs previous period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80385" y="4906362"/>
            <a:ext cx="642770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Comments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779569" y="5333393"/>
            <a:ext cx="724353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F0B25B"/>
                </a:solidFill>
                <a:latin typeface="Inter Bold"/>
                <a:ea typeface="Inter Bold"/>
                <a:cs typeface="Inter Bold"/>
                <a:sym typeface="Inter Bold"/>
              </a:rPr>
              <a:t>18.46M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928370" y="5287234"/>
            <a:ext cx="1037241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 vs previous period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816952" y="5734389"/>
            <a:ext cx="507901" cy="22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1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likes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773312" y="5674465"/>
            <a:ext cx="1350042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Avg. Engagement Rate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779714" y="6086435"/>
            <a:ext cx="709880" cy="1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b="1">
                <a:solidFill>
                  <a:srgbClr val="66D8C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18.55%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777774" y="7572131"/>
            <a:ext cx="903822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Total Followers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732672" y="7572131"/>
            <a:ext cx="974170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124">
                <a:solidFill>
                  <a:srgbClr val="1E1E1E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Follower Growth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663812" y="7572131"/>
            <a:ext cx="741481" cy="30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1124">
                <a:solidFill>
                  <a:srgbClr val="1E1E1E">
                    <a:alpha val="4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Top Country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458703" y="7554281"/>
            <a:ext cx="739055" cy="447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Top Content</a:t>
            </a:r>
          </a:p>
          <a:p>
            <a:pPr algn="l">
              <a:lnSpc>
                <a:spcPts val="1125"/>
              </a:lnSpc>
            </a:pPr>
            <a:r>
              <a:rPr lang="en-US" sz="112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Tyre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81792" y="1198661"/>
            <a:ext cx="5582513" cy="2861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2"/>
              </a:lnSpc>
            </a:pPr>
            <a:r>
              <a:rPr lang="en-US" sz="7822" b="1" spc="76">
                <a:solidFill>
                  <a:srgbClr val="2B2B2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POSTING IS </a:t>
            </a:r>
            <a:r>
              <a:rPr lang="en-US" sz="7822" b="1" spc="76">
                <a:solidFill>
                  <a:srgbClr val="E8275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CONSISTENT</a:t>
            </a:r>
            <a:r>
              <a:rPr lang="en-US" sz="7822" b="1" spc="76">
                <a:solidFill>
                  <a:srgbClr val="2B2B2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MONTH TO MONTH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4285339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892471" y="5620506"/>
            <a:ext cx="4514665" cy="91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22">
                <a:solidFill>
                  <a:srgbClr val="474747"/>
                </a:solidFill>
                <a:latin typeface="Bebas Neue"/>
                <a:ea typeface="Bebas Neue"/>
                <a:cs typeface="Bebas Neue"/>
                <a:sym typeface="Bebas Neue"/>
              </a:rPr>
              <a:t>April 2024 and April 2025 are partial months, not real drops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305" y="7006103"/>
            <a:ext cx="3831189" cy="91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 spc="-22">
                <a:solidFill>
                  <a:srgbClr val="474747"/>
                </a:solidFill>
                <a:latin typeface="Bebas Neue"/>
                <a:ea typeface="Bebas Neue"/>
                <a:cs typeface="Bebas Neue"/>
                <a:sym typeface="Bebas Neue"/>
              </a:rPr>
              <a:t>Implication: maintain the</a:t>
            </a:r>
          </a:p>
          <a:p>
            <a:pPr algn="l">
              <a:lnSpc>
                <a:spcPts val="3760"/>
              </a:lnSpc>
            </a:pPr>
            <a:r>
              <a:rPr lang="en-US" sz="2351" spc="-22">
                <a:solidFill>
                  <a:srgbClr val="474747"/>
                </a:solidFill>
                <a:latin typeface="Bebas Neue"/>
                <a:ea typeface="Bebas Neue"/>
                <a:cs typeface="Bebas Neue"/>
                <a:sym typeface="Bebas Neue"/>
              </a:rPr>
              <a:t>current cadence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7865" y="9529357"/>
            <a:ext cx="4112747" cy="31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1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Sugar Cosmetics | Instagram Insights</a:t>
            </a:r>
          </a:p>
        </p:txBody>
      </p:sp>
      <p:sp>
        <p:nvSpPr>
          <p:cNvPr id="9" name="Freeform 9"/>
          <p:cNvSpPr/>
          <p:nvPr/>
        </p:nvSpPr>
        <p:spPr>
          <a:xfrm>
            <a:off x="6956440" y="634055"/>
            <a:ext cx="10904986" cy="7947555"/>
          </a:xfrm>
          <a:custGeom>
            <a:avLst/>
            <a:gdLst/>
            <a:ahLst/>
            <a:cxnLst/>
            <a:rect l="l" t="t" r="r" b="b"/>
            <a:pathLst>
              <a:path w="10904986" h="7947555">
                <a:moveTo>
                  <a:pt x="0" y="0"/>
                </a:moveTo>
                <a:lnTo>
                  <a:pt x="10904986" y="0"/>
                </a:lnTo>
                <a:lnTo>
                  <a:pt x="10904986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7371720" y="1466701"/>
            <a:ext cx="2206129" cy="39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1" spc="-19">
                <a:solidFill>
                  <a:srgbClr val="2B2B2B"/>
                </a:solidFill>
                <a:latin typeface="Inter Bold"/>
                <a:ea typeface="Inter Bold"/>
                <a:cs typeface="Inter Bold"/>
                <a:sym typeface="Inter Bold"/>
              </a:rPr>
              <a:t>Posts Over Time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50220" y="3640352"/>
            <a:ext cx="9592450" cy="1082267"/>
          </a:xfrm>
          <a:custGeom>
            <a:avLst/>
            <a:gdLst/>
            <a:ahLst/>
            <a:cxnLst/>
            <a:rect l="l" t="t" r="r" b="b"/>
            <a:pathLst>
              <a:path w="9592450" h="1082267">
                <a:moveTo>
                  <a:pt x="0" y="0"/>
                </a:moveTo>
                <a:lnTo>
                  <a:pt x="9592450" y="0"/>
                </a:lnTo>
                <a:lnTo>
                  <a:pt x="9592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8500799" y="7338750"/>
            <a:ext cx="8407289" cy="49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1494" b="1" spc="-29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Apr      May      Jun      Jul      Aug      Sep      Oct      Nov      Dec      Jan      Feb      Mar      Apr</a:t>
            </a:r>
          </a:p>
          <a:p>
            <a:pPr algn="ctr">
              <a:lnSpc>
                <a:spcPts val="2091"/>
              </a:lnSpc>
            </a:pPr>
            <a:r>
              <a:rPr lang="en-US" sz="1494" b="1" spc="-29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2024      2024      2024      2024      2024      2024      2024      2025      2025      2025      2025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47703" y="2269585"/>
            <a:ext cx="309022" cy="461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6K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5K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4K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3K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2K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1K</a:t>
            </a:r>
          </a:p>
          <a:p>
            <a:pPr algn="r">
              <a:lnSpc>
                <a:spcPts val="2896"/>
              </a:lnSpc>
            </a:pPr>
            <a:endParaRPr lang="en-US" sz="1810" b="1" spc="-17">
              <a:solidFill>
                <a:srgbClr val="2B2B2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r">
              <a:lnSpc>
                <a:spcPts val="2896"/>
              </a:lnSpc>
            </a:pPr>
            <a:r>
              <a:rPr lang="en-US" sz="1810" b="1" spc="-17">
                <a:solidFill>
                  <a:srgbClr val="2B2B2B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5873" y="4726604"/>
            <a:ext cx="4174434" cy="42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4"/>
              </a:lnSpc>
            </a:pPr>
            <a:r>
              <a:rPr lang="en-US" sz="2271" spc="-22">
                <a:solidFill>
                  <a:srgbClr val="474747"/>
                </a:solidFill>
                <a:latin typeface="Bebas Neue"/>
                <a:ea typeface="Bebas Neue"/>
                <a:cs typeface="Bebas Neue"/>
                <a:sym typeface="Bebas Neue"/>
              </a:rPr>
              <a:t>About </a:t>
            </a:r>
            <a:r>
              <a:rPr lang="en-US" sz="2271" spc="-22">
                <a:solidFill>
                  <a:srgbClr val="E82759"/>
                </a:solidFill>
                <a:latin typeface="Bebas Neue"/>
                <a:ea typeface="Bebas Neue"/>
                <a:cs typeface="Bebas Neue"/>
                <a:sym typeface="Bebas Neue"/>
              </a:rPr>
              <a:t>4,100</a:t>
            </a:r>
            <a:r>
              <a:rPr lang="en-US" sz="2271" spc="-22">
                <a:solidFill>
                  <a:srgbClr val="474747"/>
                </a:solidFill>
                <a:latin typeface="Bebas Neue"/>
                <a:ea typeface="Bebas Neue"/>
                <a:cs typeface="Bebas Neue"/>
                <a:sym typeface="Bebas Neue"/>
              </a:rPr>
              <a:t> posts per month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11207" y="1557084"/>
            <a:ext cx="1959820" cy="26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0"/>
              </a:lnSpc>
            </a:pPr>
            <a:r>
              <a:rPr lang="en-US" sz="1494" b="1" spc="-14">
                <a:solidFill>
                  <a:srgbClr val="E8275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Apr 2024 – Apr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12536" cy="9215665"/>
          </a:xfrm>
          <a:custGeom>
            <a:avLst/>
            <a:gdLst/>
            <a:ahLst/>
            <a:cxnLst/>
            <a:rect l="l" t="t" r="r" b="b"/>
            <a:pathLst>
              <a:path w="1312536" h="9215665">
                <a:moveTo>
                  <a:pt x="0" y="0"/>
                </a:moveTo>
                <a:lnTo>
                  <a:pt x="1312536" y="0"/>
                </a:lnTo>
                <a:lnTo>
                  <a:pt x="1312536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160948" y="1381294"/>
            <a:ext cx="4455939" cy="108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79">
                <a:solidFill>
                  <a:srgbClr val="27272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POST FORMAT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9397" y="2420492"/>
            <a:ext cx="5611096" cy="108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79">
                <a:solidFill>
                  <a:srgbClr val="DD2A5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DOES NOT DECIDE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630" y="3489812"/>
            <a:ext cx="4787775" cy="108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79">
                <a:solidFill>
                  <a:srgbClr val="DD2A5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9230" y="5114955"/>
            <a:ext cx="5627764" cy="115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1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Image, Reel, Story, and Video are within about 1% on average likes (~2,950), comments (~369), and saves (~177)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402" y="6726465"/>
            <a:ext cx="4110545" cy="76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272727"/>
                </a:solidFill>
                <a:latin typeface="Inter"/>
                <a:ea typeface="Inter"/>
                <a:cs typeface="Inter"/>
                <a:sym typeface="Inter"/>
              </a:rPr>
              <a:t>Implication: don’t shift budget</a:t>
            </a:r>
          </a:p>
          <a:p>
            <a:pPr algn="l">
              <a:lnSpc>
                <a:spcPts val="3180"/>
              </a:lnSpc>
            </a:pPr>
            <a:r>
              <a:rPr lang="en-US" sz="2271">
                <a:solidFill>
                  <a:srgbClr val="272727"/>
                </a:solidFill>
                <a:latin typeface="Inter"/>
                <a:ea typeface="Inter"/>
                <a:cs typeface="Inter"/>
                <a:sym typeface="Inter"/>
              </a:rPr>
              <a:t>between formats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6973" y="9503458"/>
            <a:ext cx="4201944" cy="31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Sugar Cosmetics | Instagram Insights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175196" y="852695"/>
            <a:ext cx="10686230" cy="7728915"/>
          </a:xfrm>
          <a:custGeom>
            <a:avLst/>
            <a:gdLst/>
            <a:ahLst/>
            <a:cxnLst/>
            <a:rect l="l" t="t" r="r" b="b"/>
            <a:pathLst>
              <a:path w="10686230" h="7728915">
                <a:moveTo>
                  <a:pt x="0" y="0"/>
                </a:moveTo>
                <a:lnTo>
                  <a:pt x="10686230" y="0"/>
                </a:lnTo>
                <a:lnTo>
                  <a:pt x="10686230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716130" y="1485292"/>
            <a:ext cx="5269792" cy="37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1" b="1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Average Engagement by Post Format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63804" y="2831970"/>
            <a:ext cx="508926" cy="400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3,500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3,000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2,500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2,000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1,500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1,000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500</a:t>
            </a:r>
          </a:p>
          <a:p>
            <a:pPr algn="r">
              <a:lnSpc>
                <a:spcPts val="2162"/>
              </a:lnSpc>
            </a:pPr>
            <a:endParaRPr lang="en-US" sz="1441" b="1" spc="-28">
              <a:solidFill>
                <a:srgbClr val="272727">
                  <a:alpha val="49804"/>
                </a:srgbClr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r">
              <a:lnSpc>
                <a:spcPts val="2162"/>
              </a:lnSpc>
            </a:pPr>
            <a:r>
              <a:rPr lang="en-US" sz="1441" b="1" spc="-28">
                <a:solidFill>
                  <a:srgbClr val="272727">
                    <a:alpha val="4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</a:t>
            </a:r>
          </a:p>
        </p:txBody>
      </p:sp>
      <p:sp>
        <p:nvSpPr>
          <p:cNvPr id="14" name="Freeform 14"/>
          <p:cNvSpPr/>
          <p:nvPr/>
        </p:nvSpPr>
        <p:spPr>
          <a:xfrm>
            <a:off x="8487732" y="3421712"/>
            <a:ext cx="656268" cy="3651284"/>
          </a:xfrm>
          <a:custGeom>
            <a:avLst/>
            <a:gdLst/>
            <a:ahLst/>
            <a:cxnLst/>
            <a:rect l="l" t="t" r="r" b="b"/>
            <a:pathLst>
              <a:path w="656268" h="3651284">
                <a:moveTo>
                  <a:pt x="0" y="0"/>
                </a:moveTo>
                <a:lnTo>
                  <a:pt x="656268" y="0"/>
                </a:lnTo>
                <a:lnTo>
                  <a:pt x="65626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351818" y="3421712"/>
            <a:ext cx="667206" cy="3651284"/>
          </a:xfrm>
          <a:custGeom>
            <a:avLst/>
            <a:gdLst/>
            <a:ahLst/>
            <a:cxnLst/>
            <a:rect l="l" t="t" r="r" b="b"/>
            <a:pathLst>
              <a:path w="667206" h="3651284">
                <a:moveTo>
                  <a:pt x="0" y="0"/>
                </a:moveTo>
                <a:lnTo>
                  <a:pt x="667206" y="0"/>
                </a:lnTo>
                <a:lnTo>
                  <a:pt x="66720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0008086" y="3421712"/>
            <a:ext cx="667206" cy="3651284"/>
          </a:xfrm>
          <a:custGeom>
            <a:avLst/>
            <a:gdLst/>
            <a:ahLst/>
            <a:cxnLst/>
            <a:rect l="l" t="t" r="r" b="b"/>
            <a:pathLst>
              <a:path w="667206" h="3651284">
                <a:moveTo>
                  <a:pt x="0" y="0"/>
                </a:moveTo>
                <a:lnTo>
                  <a:pt x="667206" y="0"/>
                </a:lnTo>
                <a:lnTo>
                  <a:pt x="66720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664354" y="3421712"/>
            <a:ext cx="667206" cy="3651284"/>
          </a:xfrm>
          <a:custGeom>
            <a:avLst/>
            <a:gdLst/>
            <a:ahLst/>
            <a:cxnLst/>
            <a:rect l="l" t="t" r="r" b="b"/>
            <a:pathLst>
              <a:path w="667206" h="3651284">
                <a:moveTo>
                  <a:pt x="0" y="0"/>
                </a:moveTo>
                <a:lnTo>
                  <a:pt x="667206" y="0"/>
                </a:lnTo>
                <a:lnTo>
                  <a:pt x="66720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1528440" y="6428009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1812318" y="6203237"/>
            <a:ext cx="28246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33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371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403464" y="6428009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2482044" y="6226596"/>
            <a:ext cx="282460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362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059732" y="6428009"/>
            <a:ext cx="448450" cy="644987"/>
          </a:xfrm>
          <a:custGeom>
            <a:avLst/>
            <a:gdLst/>
            <a:ahLst/>
            <a:cxnLst/>
            <a:rect l="l" t="t" r="r" b="b"/>
            <a:pathLst>
              <a:path w="448450" h="644987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3178560" y="6226596"/>
            <a:ext cx="282460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368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716000" y="6428009"/>
            <a:ext cx="656268" cy="644987"/>
          </a:xfrm>
          <a:custGeom>
            <a:avLst/>
            <a:gdLst/>
            <a:ahLst/>
            <a:cxnLst/>
            <a:rect l="l" t="t" r="r" b="b"/>
            <a:pathLst>
              <a:path w="656268" h="644987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3875076" y="6227935"/>
            <a:ext cx="282460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"/>
              </a:lnSpc>
            </a:pPr>
            <a:r>
              <a:rPr lang="en-US" sz="119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372</a:t>
            </a:r>
          </a:p>
        </p:txBody>
      </p:sp>
      <p:sp>
        <p:nvSpPr>
          <p:cNvPr id="26" name="Freeform 26"/>
          <p:cNvSpPr/>
          <p:nvPr/>
        </p:nvSpPr>
        <p:spPr>
          <a:xfrm>
            <a:off x="14580086" y="663571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15236354" y="663571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16100440" y="663571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6756708" y="663571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9257560" y="7677261"/>
            <a:ext cx="1343612" cy="28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b="1">
                <a:solidFill>
                  <a:srgbClr val="DD2A59"/>
                </a:solidFill>
                <a:latin typeface="Inter Bold"/>
                <a:ea typeface="Inter Bold"/>
                <a:cs typeface="Inter Bold"/>
                <a:sym typeface="Inter Bold"/>
              </a:rPr>
              <a:t>Average Likes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6850" y="7694707"/>
            <a:ext cx="1863469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sz="1494" b="1">
                <a:solidFill>
                  <a:srgbClr val="F4A526"/>
                </a:solidFill>
                <a:latin typeface="Inter Bold"/>
                <a:ea typeface="Inter Bold"/>
                <a:cs typeface="Inter Bold"/>
                <a:sym typeface="Inter Bold"/>
              </a:rPr>
              <a:t>Average Comments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90663" y="7677261"/>
            <a:ext cx="1410173" cy="28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546" b="1">
                <a:solidFill>
                  <a:srgbClr val="46C9C0"/>
                </a:solidFill>
                <a:latin typeface="Inter Bold"/>
                <a:ea typeface="Inter Bold"/>
                <a:cs typeface="Inter Bold"/>
                <a:sym typeface="Inter Bold"/>
              </a:rPr>
              <a:t>Average Saves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68828" y="1902704"/>
            <a:ext cx="5893594" cy="4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272727"/>
                </a:solidFill>
                <a:latin typeface="Bebas Neue"/>
                <a:ea typeface="Bebas Neue"/>
                <a:cs typeface="Bebas Neue"/>
                <a:sym typeface="Bebas Neue"/>
              </a:rPr>
              <a:t>Apr 2024 – Apr 2025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83858" y="7115967"/>
            <a:ext cx="43147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Image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37811" y="7115967"/>
            <a:ext cx="43147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Image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738186" y="7115967"/>
            <a:ext cx="43147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Image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40728" y="7115967"/>
            <a:ext cx="40398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Video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28620" y="7115967"/>
            <a:ext cx="381590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Story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28995" y="7115967"/>
            <a:ext cx="381590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Story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156159" y="7115967"/>
            <a:ext cx="381590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Story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814314" y="7115967"/>
            <a:ext cx="40398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Video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814689" y="7115967"/>
            <a:ext cx="403983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Video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7570" y="3229489"/>
            <a:ext cx="423689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2,958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84265" y="3232766"/>
            <a:ext cx="423689" cy="2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8"/>
              </a:lnSpc>
            </a:pPr>
            <a:r>
              <a:rPr lang="en-US" sz="126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2,941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804086" y="3229489"/>
            <a:ext cx="423689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2,956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87750" y="3230827"/>
            <a:ext cx="423689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"/>
              </a:lnSpc>
            </a:pPr>
            <a:r>
              <a:rPr lang="en-US" sz="119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2,967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8449" y="7115967"/>
            <a:ext cx="315321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Reel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492777" y="7115967"/>
            <a:ext cx="315321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Reel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465613" y="7115967"/>
            <a:ext cx="315321" cy="20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124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Reel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812693" y="6444211"/>
            <a:ext cx="28246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33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178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875451" y="6444211"/>
            <a:ext cx="28246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33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179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509208" y="6444211"/>
            <a:ext cx="28246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33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175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205724" y="6444211"/>
            <a:ext cx="282460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335" b="1">
                <a:solidFill>
                  <a:srgbClr val="272727"/>
                </a:solidFill>
                <a:latin typeface="Inter Bold"/>
                <a:ea typeface="Inter Bold"/>
                <a:cs typeface="Inter Bold"/>
                <a:sym typeface="Inter Bold"/>
              </a:rPr>
              <a:t>176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2350377"/>
            <a:ext cx="1968804" cy="6865288"/>
          </a:xfrm>
          <a:custGeom>
            <a:avLst/>
            <a:gdLst/>
            <a:ahLst/>
            <a:cxnLst/>
            <a:rect l="l" t="t" r="r" b="b"/>
            <a:pathLst>
              <a:path w="1968804" h="6865288">
                <a:moveTo>
                  <a:pt x="0" y="0"/>
                </a:moveTo>
                <a:lnTo>
                  <a:pt x="1968804" y="0"/>
                </a:lnTo>
                <a:lnTo>
                  <a:pt x="196880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607699" y="821696"/>
            <a:ext cx="8001144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>
                <a:solidFill>
                  <a:srgbClr val="09090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TIMING AND HASHTAGS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3166" y="1906077"/>
            <a:ext cx="6454507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>
                <a:solidFill>
                  <a:srgbClr val="D62D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ARE WEAK LEVERS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7711" y="3492288"/>
            <a:ext cx="4125516" cy="88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Weekday engagement ranges narrowly from </a:t>
            </a:r>
            <a:r>
              <a:rPr lang="en-US" sz="2387" b="1">
                <a:solidFill>
                  <a:srgbClr val="D62D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18.47%</a:t>
            </a:r>
            <a:r>
              <a:rPr lang="en-US" sz="2387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 (Sunday) to </a:t>
            </a:r>
            <a:r>
              <a:rPr lang="en-US" sz="2387" b="1">
                <a:solidFill>
                  <a:srgbClr val="D62D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18.61%</a:t>
            </a:r>
            <a:r>
              <a:rPr lang="en-US" sz="2387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 (Friday)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7711" y="5021134"/>
            <a:ext cx="4125516" cy="127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Five core hashtags perform within about half a point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of each other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7711" y="6753131"/>
            <a:ext cx="4125516" cy="127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Treat </a:t>
            </a:r>
            <a:r>
              <a:rPr lang="en-US" sz="2321" b="1">
                <a:solidFill>
                  <a:srgbClr val="D62D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Friday</a:t>
            </a: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 and </a:t>
            </a:r>
            <a:r>
              <a:rPr lang="en-US" sz="2321" b="1">
                <a:solidFill>
                  <a:srgbClr val="D62D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Saturday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as test slots, not proven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090909"/>
                </a:solidFill>
                <a:latin typeface="Bebas Neue"/>
                <a:ea typeface="Bebas Neue"/>
                <a:cs typeface="Bebas Neue"/>
                <a:sym typeface="Bebas Neue"/>
              </a:rPr>
              <a:t>winners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8493" y="9553619"/>
            <a:ext cx="4049886" cy="3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Sugar Cosmetics | Instagram Insights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2354" y="2776725"/>
            <a:ext cx="5447024" cy="5586245"/>
          </a:xfrm>
          <a:custGeom>
            <a:avLst/>
            <a:gdLst/>
            <a:ahLst/>
            <a:cxnLst/>
            <a:rect l="l" t="t" r="r" b="b"/>
            <a:pathLst>
              <a:path w="5447024" h="5586245">
                <a:moveTo>
                  <a:pt x="0" y="0"/>
                </a:moveTo>
                <a:lnTo>
                  <a:pt x="5447024" y="0"/>
                </a:lnTo>
                <a:lnTo>
                  <a:pt x="5447024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9351818" y="3214004"/>
            <a:ext cx="1979742" cy="437279"/>
          </a:xfrm>
          <a:custGeom>
            <a:avLst/>
            <a:gdLst/>
            <a:ahLst/>
            <a:cxnLst/>
            <a:rect l="l" t="t" r="r" b="b"/>
            <a:pathLst>
              <a:path w="1979742" h="437279">
                <a:moveTo>
                  <a:pt x="0" y="0"/>
                </a:moveTo>
                <a:lnTo>
                  <a:pt x="1979742" y="0"/>
                </a:lnTo>
                <a:lnTo>
                  <a:pt x="197974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351818" y="32140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0883110" y="32140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8487732" y="4493047"/>
            <a:ext cx="2843828" cy="437279"/>
          </a:xfrm>
          <a:custGeom>
            <a:avLst/>
            <a:gdLst/>
            <a:ahLst/>
            <a:cxnLst/>
            <a:rect l="l" t="t" r="r" b="b"/>
            <a:pathLst>
              <a:path w="2843828" h="437279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8487732" y="5138034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6447442" y="5551759"/>
            <a:ext cx="872240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Wednesday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54835" y="5542568"/>
            <a:ext cx="683726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18.50%</a:t>
            </a:r>
          </a:p>
        </p:txBody>
      </p:sp>
      <p:sp>
        <p:nvSpPr>
          <p:cNvPr id="20" name="Freeform 20"/>
          <p:cNvSpPr/>
          <p:nvPr/>
        </p:nvSpPr>
        <p:spPr>
          <a:xfrm>
            <a:off x="8487732" y="5564382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487732" y="5990729"/>
            <a:ext cx="2843828" cy="448211"/>
          </a:xfrm>
          <a:custGeom>
            <a:avLst/>
            <a:gdLst/>
            <a:ahLst/>
            <a:cxnLst/>
            <a:rect l="l" t="t" r="r" b="b"/>
            <a:pathLst>
              <a:path w="2843828" h="448211">
                <a:moveTo>
                  <a:pt x="0" y="0"/>
                </a:moveTo>
                <a:lnTo>
                  <a:pt x="2843828" y="0"/>
                </a:lnTo>
                <a:lnTo>
                  <a:pt x="284382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8487732" y="6635716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6449163" y="7027721"/>
            <a:ext cx="700089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Saturday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54817" y="6988409"/>
            <a:ext cx="685528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18.54%</a:t>
            </a:r>
          </a:p>
        </p:txBody>
      </p:sp>
      <p:sp>
        <p:nvSpPr>
          <p:cNvPr id="25" name="Freeform 25"/>
          <p:cNvSpPr/>
          <p:nvPr/>
        </p:nvSpPr>
        <p:spPr>
          <a:xfrm>
            <a:off x="8487732" y="7062064"/>
            <a:ext cx="2843828" cy="229572"/>
          </a:xfrm>
          <a:custGeom>
            <a:avLst/>
            <a:gdLst/>
            <a:ahLst/>
            <a:cxnLst/>
            <a:rect l="l" t="t" r="r" b="b"/>
            <a:pathLst>
              <a:path w="2843828" h="229572">
                <a:moveTo>
                  <a:pt x="0" y="0"/>
                </a:moveTo>
                <a:lnTo>
                  <a:pt x="2843828" y="0"/>
                </a:lnTo>
                <a:lnTo>
                  <a:pt x="284382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8487732" y="7499343"/>
            <a:ext cx="2843828" cy="218640"/>
          </a:xfrm>
          <a:custGeom>
            <a:avLst/>
            <a:gdLst/>
            <a:ahLst/>
            <a:cxnLst/>
            <a:rect l="l" t="t" r="r" b="b"/>
            <a:pathLst>
              <a:path w="2843828" h="218640">
                <a:moveTo>
                  <a:pt x="0" y="0"/>
                </a:moveTo>
                <a:lnTo>
                  <a:pt x="2843828" y="0"/>
                </a:lnTo>
                <a:lnTo>
                  <a:pt x="2843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11528440" y="2776725"/>
            <a:ext cx="6332986" cy="5586245"/>
          </a:xfrm>
          <a:custGeom>
            <a:avLst/>
            <a:gdLst/>
            <a:ahLst/>
            <a:cxnLst/>
            <a:rect l="l" t="t" r="r" b="b"/>
            <a:pathLst>
              <a:path w="6332986" h="5586245">
                <a:moveTo>
                  <a:pt x="0" y="0"/>
                </a:moveTo>
                <a:lnTo>
                  <a:pt x="6332986" y="0"/>
                </a:lnTo>
                <a:lnTo>
                  <a:pt x="633298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15673866" y="3214004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5673866" y="3214004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7194220" y="3214004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11908535" y="4678230"/>
            <a:ext cx="1259774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#sugarcosmetics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580086" y="4711687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4580086" y="5356674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4580086" y="6209369"/>
            <a:ext cx="3062584" cy="229572"/>
          </a:xfrm>
          <a:custGeom>
            <a:avLst/>
            <a:gdLst/>
            <a:ahLst/>
            <a:cxnLst/>
            <a:rect l="l" t="t" r="r" b="b"/>
            <a:pathLst>
              <a:path w="3062584" h="229572">
                <a:moveTo>
                  <a:pt x="0" y="0"/>
                </a:moveTo>
                <a:lnTo>
                  <a:pt x="3062584" y="0"/>
                </a:lnTo>
                <a:lnTo>
                  <a:pt x="306258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11912937" y="6816869"/>
            <a:ext cx="819531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#sugarlook</a:t>
            </a:r>
          </a:p>
        </p:txBody>
      </p:sp>
      <p:sp>
        <p:nvSpPr>
          <p:cNvPr id="36" name="Freeform 36"/>
          <p:cNvSpPr/>
          <p:nvPr/>
        </p:nvSpPr>
        <p:spPr>
          <a:xfrm>
            <a:off x="14580086" y="6854356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13494935" y="7444543"/>
            <a:ext cx="675250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18.11%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580086" y="7499343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11889134" y="3238260"/>
            <a:ext cx="3199891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Hashtag Performance Comparison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31970" y="3238260"/>
            <a:ext cx="2419412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Engagement by Weekday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38601" y="4015553"/>
            <a:ext cx="1756271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Avg. Engagement Rate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903958" y="4015553"/>
            <a:ext cx="1717433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b="1">
                <a:solidFill>
                  <a:srgbClr val="09090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Avg. Engagement Rate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007541" y="3170914"/>
            <a:ext cx="1231863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Apr 2024 - Apr 2025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92478" y="3170914"/>
            <a:ext cx="1231863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Apr 2024 - Apr 2025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11605" y="5386089"/>
            <a:ext cx="952768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#sugarfamily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494072" y="5320964"/>
            <a:ext cx="761563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18.52%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494153" y="6013763"/>
            <a:ext cx="753455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18.27%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494461" y="6721623"/>
            <a:ext cx="722621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18.19%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494041" y="4613105"/>
            <a:ext cx="764657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18.58%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913291" y="7509668"/>
            <a:ext cx="784161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#sugarbae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54817" y="5015439"/>
            <a:ext cx="685528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18.54%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14061" y="6078888"/>
            <a:ext cx="707178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#trysugar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48809" y="6033706"/>
            <a:ext cx="735459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Thursday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654901" y="4533492"/>
            <a:ext cx="677086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18.52%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54874" y="5994394"/>
            <a:ext cx="679837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18.58%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55247" y="6506462"/>
            <a:ext cx="642464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18.61%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54889" y="7470356"/>
            <a:ext cx="678319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>
                <a:solidFill>
                  <a:srgbClr val="D62D5B"/>
                </a:solidFill>
                <a:latin typeface="Inter Medium"/>
                <a:ea typeface="Inter Medium"/>
                <a:cs typeface="Inter Medium"/>
                <a:sym typeface="Inter Medium"/>
              </a:rPr>
              <a:t>18.47%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49398" y="5054751"/>
            <a:ext cx="676585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Tuesday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49786" y="4587865"/>
            <a:ext cx="637824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Monday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450203" y="7509668"/>
            <a:ext cx="596135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Sunday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51177" y="6545774"/>
            <a:ext cx="498731" cy="20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>
                <a:solidFill>
                  <a:srgbClr val="090909"/>
                </a:solidFill>
                <a:latin typeface="Inter"/>
                <a:ea typeface="Inter"/>
                <a:cs typeface="Inter"/>
                <a:sym typeface="Inter"/>
              </a:rPr>
              <a:t> Friday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093780" cy="9215665"/>
          </a:xfrm>
          <a:custGeom>
            <a:avLst/>
            <a:gdLst/>
            <a:ahLst/>
            <a:cxnLst/>
            <a:rect l="l" t="t" r="r" b="b"/>
            <a:pathLst>
              <a:path w="1093780" h="9215665">
                <a:moveTo>
                  <a:pt x="0" y="0"/>
                </a:moveTo>
                <a:lnTo>
                  <a:pt x="1093780" y="0"/>
                </a:lnTo>
                <a:lnTo>
                  <a:pt x="1093780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487732" y="634055"/>
            <a:ext cx="9373694" cy="8155262"/>
          </a:xfrm>
          <a:custGeom>
            <a:avLst/>
            <a:gdLst/>
            <a:ahLst/>
            <a:cxnLst/>
            <a:rect l="l" t="t" r="r" b="b"/>
            <a:pathLst>
              <a:path w="9373694" h="8155262">
                <a:moveTo>
                  <a:pt x="0" y="0"/>
                </a:moveTo>
                <a:lnTo>
                  <a:pt x="9373694" y="0"/>
                </a:lnTo>
                <a:lnTo>
                  <a:pt x="9373694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301592" y="884300"/>
            <a:ext cx="3786137" cy="110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80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WHERE THE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9751" y="1863255"/>
            <a:ext cx="6970259" cy="110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80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AUDIENCE DROPS OFF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163" y="3337890"/>
            <a:ext cx="6286802" cy="48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IReach is about </a:t>
            </a:r>
            <a:r>
              <a:rPr lang="en-US" sz="2970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77%</a:t>
            </a: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of impressions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095" y="4286723"/>
            <a:ext cx="5093652" cy="48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Likes are about </a:t>
            </a:r>
            <a:r>
              <a:rPr lang="en-US" sz="2970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15%</a:t>
            </a: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of reach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0280" y="5220495"/>
            <a:ext cx="5275163" cy="96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Comments, shares, and saves each under </a:t>
            </a:r>
            <a:r>
              <a:rPr lang="en-US" sz="2970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2%</a:t>
            </a: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of reach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6437" y="6982614"/>
            <a:ext cx="5659464" cy="48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b="1">
                <a:solidFill>
                  <a:srgbClr val="24242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Design content that earns </a:t>
            </a:r>
            <a:r>
              <a:rPr lang="en-US" sz="2970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saves and shares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938" y="9586448"/>
            <a:ext cx="3963211" cy="2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Sugar Cosmetics | Instagram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8620" y="1527964"/>
            <a:ext cx="1323978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Impressions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883110" y="1071335"/>
            <a:ext cx="5228268" cy="1289974"/>
          </a:xfrm>
          <a:custGeom>
            <a:avLst/>
            <a:gdLst/>
            <a:ahLst/>
            <a:cxnLst/>
            <a:rect l="l" t="t" r="r" b="b"/>
            <a:pathLst>
              <a:path w="5228268" h="1289974">
                <a:moveTo>
                  <a:pt x="0" y="0"/>
                </a:moveTo>
                <a:lnTo>
                  <a:pt x="5228268" y="0"/>
                </a:lnTo>
                <a:lnTo>
                  <a:pt x="522826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6526393" y="1455585"/>
            <a:ext cx="76340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0F101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100%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278488" y="2142670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1528440" y="2350377"/>
            <a:ext cx="3718852" cy="1300906"/>
          </a:xfrm>
          <a:custGeom>
            <a:avLst/>
            <a:gdLst/>
            <a:ahLst/>
            <a:cxnLst/>
            <a:rect l="l" t="t" r="r" b="b"/>
            <a:pathLst>
              <a:path w="3718852" h="1300906">
                <a:moveTo>
                  <a:pt x="0" y="0"/>
                </a:moveTo>
                <a:lnTo>
                  <a:pt x="3718852" y="0"/>
                </a:lnTo>
                <a:lnTo>
                  <a:pt x="371885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6560021" y="2735756"/>
            <a:ext cx="59684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77%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278488" y="3421712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9156154" y="4013937"/>
            <a:ext cx="570576" cy="2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Likes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622220" y="3640352"/>
            <a:ext cx="1531292" cy="1082267"/>
          </a:xfrm>
          <a:custGeom>
            <a:avLst/>
            <a:gdLst/>
            <a:ahLst/>
            <a:cxnLst/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6560021" y="3940623"/>
            <a:ext cx="59684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15%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278488" y="4493047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9150179" y="5217870"/>
            <a:ext cx="1168017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Comments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278488" y="4919394"/>
            <a:ext cx="437512" cy="1082267"/>
          </a:xfrm>
          <a:custGeom>
            <a:avLst/>
            <a:gdLst/>
            <a:ahLst/>
            <a:cxnLst/>
            <a:rect l="l" t="t" r="r" b="b"/>
            <a:pathLst>
              <a:path w="437512" h="1082267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6560021" y="5145491"/>
            <a:ext cx="59684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&lt;2%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278488" y="5783021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9154404" y="6422737"/>
            <a:ext cx="745493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Shares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278488" y="5990729"/>
            <a:ext cx="437512" cy="1082267"/>
          </a:xfrm>
          <a:custGeom>
            <a:avLst/>
            <a:gdLst/>
            <a:ahLst/>
            <a:cxnLst/>
            <a:rect l="l" t="t" r="r" b="b"/>
            <a:pathLst>
              <a:path w="437512" h="1082267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3278488" y="6854356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13278488" y="7280704"/>
            <a:ext cx="437512" cy="1082267"/>
          </a:xfrm>
          <a:custGeom>
            <a:avLst/>
            <a:gdLst/>
            <a:ahLst/>
            <a:cxnLst/>
            <a:rect l="l" t="t" r="r" b="b"/>
            <a:pathLst>
              <a:path w="437512" h="1082267">
                <a:moveTo>
                  <a:pt x="0" y="0"/>
                </a:moveTo>
                <a:lnTo>
                  <a:pt x="437512" y="0"/>
                </a:lnTo>
                <a:lnTo>
                  <a:pt x="43751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16560021" y="6350358"/>
            <a:ext cx="59684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&lt;2%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560021" y="7555225"/>
            <a:ext cx="596841" cy="51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4"/>
              </a:lnSpc>
            </a:pPr>
            <a:r>
              <a:rPr lang="en-US" sz="3234" b="1">
                <a:solidFill>
                  <a:srgbClr val="D82B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&lt;2%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55200" y="2808135"/>
            <a:ext cx="665943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Reach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55402" y="7612544"/>
            <a:ext cx="645707" cy="2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Saves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2350377"/>
            <a:ext cx="1968804" cy="6865288"/>
          </a:xfrm>
          <a:custGeom>
            <a:avLst/>
            <a:gdLst/>
            <a:ahLst/>
            <a:cxnLst/>
            <a:rect l="l" t="t" r="r" b="b"/>
            <a:pathLst>
              <a:path w="1968804" h="6865288">
                <a:moveTo>
                  <a:pt x="0" y="0"/>
                </a:moveTo>
                <a:lnTo>
                  <a:pt x="1968804" y="0"/>
                </a:lnTo>
                <a:lnTo>
                  <a:pt x="196880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716344" y="892432"/>
            <a:ext cx="5173377" cy="129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75"/>
              </a:lnSpc>
            </a:pPr>
            <a:r>
              <a:rPr lang="en-US" sz="9775" b="1">
                <a:solidFill>
                  <a:srgbClr val="0D0D0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HIDDEN </a:t>
            </a:r>
            <a:r>
              <a:rPr lang="en-US" sz="9775" b="1">
                <a:solidFill>
                  <a:srgbClr val="DD2A55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1220" y="2482554"/>
            <a:ext cx="1685774" cy="208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92"/>
              </a:lnSpc>
            </a:pPr>
            <a:r>
              <a:rPr lang="en-US" sz="15692" b="1">
                <a:solidFill>
                  <a:srgbClr val="DD2A55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97227" y="2467442"/>
            <a:ext cx="2645246" cy="151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1">
                <a:solidFill>
                  <a:srgbClr val="0D0D0D"/>
                </a:solidFill>
                <a:latin typeface="Inter Bold"/>
                <a:ea typeface="Inter Bold"/>
                <a:cs typeface="Inter Bold"/>
                <a:sym typeface="Inter Bold"/>
              </a:rPr>
              <a:t>TOP POSTS BEAT THE AVERAGE BY </a:t>
            </a:r>
            <a:r>
              <a:rPr lang="en-US" sz="3062" b="1">
                <a:solidFill>
                  <a:srgbClr val="DD2A55"/>
                </a:solidFill>
                <a:latin typeface="Inter Bold"/>
                <a:ea typeface="Inter Bold"/>
                <a:cs typeface="Inter Bold"/>
                <a:sym typeface="Inter Bold"/>
              </a:rPr>
              <a:t>NEARLY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1412" y="4348271"/>
            <a:ext cx="5666583" cy="83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>
                <a:solidFill>
                  <a:srgbClr val="1A1930"/>
                </a:solidFill>
                <a:latin typeface="Inter Medium"/>
                <a:ea typeface="Inter Medium"/>
                <a:cs typeface="Inter Medium"/>
                <a:sym typeface="Inter Medium"/>
              </a:rPr>
              <a:t>Top 10 posts by engagement rate reach about </a:t>
            </a:r>
            <a:r>
              <a:rPr lang="en-US" sz="2311" b="1">
                <a:solidFill>
                  <a:srgbClr val="DD2A5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34%</a:t>
            </a:r>
            <a:r>
              <a:rPr lang="en-US" sz="2311" b="1">
                <a:solidFill>
                  <a:srgbClr val="1A1930"/>
                </a:solidFill>
                <a:latin typeface="Inter Medium"/>
                <a:ea typeface="Inter Medium"/>
                <a:cs typeface="Inter Medium"/>
                <a:sym typeface="Inter Medium"/>
              </a:rPr>
              <a:t> vs. </a:t>
            </a:r>
            <a:r>
              <a:rPr lang="en-US" sz="2311" b="1">
                <a:solidFill>
                  <a:srgbClr val="DD2A5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18.55%</a:t>
            </a:r>
            <a:r>
              <a:rPr lang="en-US" sz="2311" b="1">
                <a:solidFill>
                  <a:srgbClr val="1A1930"/>
                </a:solidFill>
                <a:latin typeface="Inter Medium"/>
                <a:ea typeface="Inter Medium"/>
                <a:cs typeface="Inter Medium"/>
                <a:sym typeface="Inter Medium"/>
              </a:rPr>
              <a:t> average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8034" y="5537966"/>
            <a:ext cx="5004381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>
                <a:solidFill>
                  <a:srgbClr val="1A1930"/>
                </a:solidFill>
                <a:latin typeface="Inter Medium"/>
                <a:ea typeface="Inter Medium"/>
                <a:cs typeface="Inter Medium"/>
                <a:sym typeface="Inter Medium"/>
              </a:rPr>
              <a:t>They are not the most-liked posts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517" y="6306069"/>
            <a:ext cx="3956069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>
                <a:solidFill>
                  <a:srgbClr val="1A1930"/>
                </a:solidFill>
                <a:latin typeface="Inter Medium"/>
                <a:ea typeface="Inter Medium"/>
                <a:cs typeface="Inter Medium"/>
                <a:sym typeface="Inter Medium"/>
              </a:rPr>
              <a:t>They span every post type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39110" y="6854356"/>
            <a:ext cx="5665780" cy="218640"/>
          </a:xfrm>
          <a:custGeom>
            <a:avLst/>
            <a:gdLst/>
            <a:ahLst/>
            <a:cxnLst/>
            <a:rect l="l" t="t" r="r" b="b"/>
            <a:pathLst>
              <a:path w="5665780" h="218640">
                <a:moveTo>
                  <a:pt x="0" y="0"/>
                </a:moveTo>
                <a:lnTo>
                  <a:pt x="5665780" y="0"/>
                </a:lnTo>
                <a:lnTo>
                  <a:pt x="566578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716840" y="7345378"/>
            <a:ext cx="5123852" cy="83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>
                <a:solidFill>
                  <a:srgbClr val="DD2A5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Implication: </a:t>
            </a:r>
            <a:r>
              <a:rPr lang="en-US" sz="2311" b="1">
                <a:solidFill>
                  <a:srgbClr val="1A193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study what these posts share and replicate 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8493" y="9538558"/>
            <a:ext cx="4049886" cy="3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Sugar Cosmetics | Instagram Insights</a:t>
            </a:r>
          </a:p>
        </p:txBody>
      </p:sp>
      <p:sp>
        <p:nvSpPr>
          <p:cNvPr id="15" name="Freeform 15"/>
          <p:cNvSpPr/>
          <p:nvPr/>
        </p:nvSpPr>
        <p:spPr>
          <a:xfrm>
            <a:off x="8050220" y="426348"/>
            <a:ext cx="4801694" cy="8362970"/>
          </a:xfrm>
          <a:custGeom>
            <a:avLst/>
            <a:gdLst/>
            <a:ahLst/>
            <a:cxnLst/>
            <a:rect l="l" t="t" r="r" b="b"/>
            <a:pathLst>
              <a:path w="4801694" h="8362970">
                <a:moveTo>
                  <a:pt x="0" y="0"/>
                </a:moveTo>
                <a:lnTo>
                  <a:pt x="4801694" y="0"/>
                </a:lnTo>
                <a:lnTo>
                  <a:pt x="4801694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8487732" y="634055"/>
            <a:ext cx="4145426" cy="1519546"/>
          </a:xfrm>
          <a:custGeom>
            <a:avLst/>
            <a:gdLst/>
            <a:ahLst/>
            <a:cxnLst/>
            <a:rect l="l" t="t" r="r" b="b"/>
            <a:pathLst>
              <a:path w="4145426" h="1519546">
                <a:moveTo>
                  <a:pt x="0" y="0"/>
                </a:moveTo>
                <a:lnTo>
                  <a:pt x="4145426" y="0"/>
                </a:lnTo>
                <a:lnTo>
                  <a:pt x="414542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8738189" y="1033947"/>
            <a:ext cx="2183478" cy="81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92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TOP 10 BY</a:t>
            </a:r>
          </a:p>
          <a:p>
            <a:pPr algn="l">
              <a:lnSpc>
                <a:spcPts val="2116"/>
              </a:lnSpc>
            </a:pPr>
            <a:r>
              <a:rPr lang="en-US" sz="192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ENGAGEMENT RATE</a:t>
            </a:r>
          </a:p>
        </p:txBody>
      </p:sp>
      <p:sp>
        <p:nvSpPr>
          <p:cNvPr id="18" name="Freeform 18"/>
          <p:cNvSpPr/>
          <p:nvPr/>
        </p:nvSpPr>
        <p:spPr>
          <a:xfrm>
            <a:off x="8487732" y="2142670"/>
            <a:ext cx="1093780" cy="6220301"/>
          </a:xfrm>
          <a:custGeom>
            <a:avLst/>
            <a:gdLst/>
            <a:ahLst/>
            <a:cxnLst/>
            <a:rect l="l" t="t" r="r" b="b"/>
            <a:pathLst>
              <a:path w="1093780" h="6220301">
                <a:moveTo>
                  <a:pt x="0" y="0"/>
                </a:moveTo>
                <a:lnTo>
                  <a:pt x="1093780" y="0"/>
                </a:lnTo>
                <a:lnTo>
                  <a:pt x="1093780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9570574" y="2142670"/>
            <a:ext cx="2843828" cy="6220301"/>
          </a:xfrm>
          <a:custGeom>
            <a:avLst/>
            <a:gdLst/>
            <a:ahLst/>
            <a:cxnLst/>
            <a:rect l="l" t="t" r="r" b="b"/>
            <a:pathLst>
              <a:path w="2843828" h="6220301">
                <a:moveTo>
                  <a:pt x="0" y="0"/>
                </a:moveTo>
                <a:lnTo>
                  <a:pt x="2843828" y="0"/>
                </a:lnTo>
                <a:lnTo>
                  <a:pt x="2843828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2840976" y="426348"/>
            <a:ext cx="4801694" cy="8362970"/>
          </a:xfrm>
          <a:custGeom>
            <a:avLst/>
            <a:gdLst/>
            <a:ahLst/>
            <a:cxnLst/>
            <a:rect l="l" t="t" r="r" b="b"/>
            <a:pathLst>
              <a:path w="4801694" h="8362970">
                <a:moveTo>
                  <a:pt x="0" y="0"/>
                </a:moveTo>
                <a:lnTo>
                  <a:pt x="4801694" y="0"/>
                </a:lnTo>
                <a:lnTo>
                  <a:pt x="4801694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3059732" y="634055"/>
            <a:ext cx="4364182" cy="1519546"/>
          </a:xfrm>
          <a:custGeom>
            <a:avLst/>
            <a:gdLst/>
            <a:ahLst/>
            <a:cxnLst/>
            <a:rect l="l" t="t" r="r" b="b"/>
            <a:pathLst>
              <a:path w="4364182" h="1519546">
                <a:moveTo>
                  <a:pt x="0" y="0"/>
                </a:moveTo>
                <a:lnTo>
                  <a:pt x="4364182" y="0"/>
                </a:lnTo>
                <a:lnTo>
                  <a:pt x="436418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3516900" y="1033947"/>
            <a:ext cx="1157663" cy="81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92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TOP 10 BY</a:t>
            </a:r>
          </a:p>
          <a:p>
            <a:pPr algn="l">
              <a:lnSpc>
                <a:spcPts val="2116"/>
              </a:lnSpc>
            </a:pPr>
            <a:r>
              <a:rPr lang="en-US" sz="192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LIKES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059732" y="2142670"/>
            <a:ext cx="1312536" cy="6220301"/>
          </a:xfrm>
          <a:custGeom>
            <a:avLst/>
            <a:gdLst/>
            <a:ahLst/>
            <a:cxnLst/>
            <a:rect l="l" t="t" r="r" b="b"/>
            <a:pathLst>
              <a:path w="1312536" h="6220301">
                <a:moveTo>
                  <a:pt x="0" y="0"/>
                </a:moveTo>
                <a:lnTo>
                  <a:pt x="1312536" y="0"/>
                </a:lnTo>
                <a:lnTo>
                  <a:pt x="1312536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/>
          <p:cNvSpPr/>
          <p:nvPr/>
        </p:nvSpPr>
        <p:spPr>
          <a:xfrm>
            <a:off x="14361330" y="2142670"/>
            <a:ext cx="2843828" cy="6220301"/>
          </a:xfrm>
          <a:custGeom>
            <a:avLst/>
            <a:gdLst/>
            <a:ahLst/>
            <a:cxnLst/>
            <a:rect l="l" t="t" r="r" b="b"/>
            <a:pathLst>
              <a:path w="2843828" h="6220301">
                <a:moveTo>
                  <a:pt x="0" y="0"/>
                </a:moveTo>
                <a:lnTo>
                  <a:pt x="2843828" y="0"/>
                </a:lnTo>
                <a:lnTo>
                  <a:pt x="2843828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2350377"/>
            <a:ext cx="1968804" cy="6865288"/>
          </a:xfrm>
          <a:custGeom>
            <a:avLst/>
            <a:gdLst/>
            <a:ahLst/>
            <a:cxnLst/>
            <a:rect l="l" t="t" r="r" b="b"/>
            <a:pathLst>
              <a:path w="1968804" h="6865288">
                <a:moveTo>
                  <a:pt x="0" y="0"/>
                </a:moveTo>
                <a:lnTo>
                  <a:pt x="1968804" y="0"/>
                </a:lnTo>
                <a:lnTo>
                  <a:pt x="196880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289644" y="1539637"/>
            <a:ext cx="4980864" cy="13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10229" b="1" spc="-99">
                <a:solidFill>
                  <a:srgbClr val="22222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INTERACTIVE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2271" y="2789687"/>
            <a:ext cx="4718203" cy="136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10229" b="1" spc="-99">
                <a:solidFill>
                  <a:srgbClr val="DE2F6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7322" y="4003474"/>
            <a:ext cx="5213092" cy="53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b="1" spc="-29">
                <a:solidFill>
                  <a:srgbClr val="17171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THE MARKETING TEAM</a:t>
            </a:r>
          </a:p>
        </p:txBody>
      </p:sp>
      <p:sp>
        <p:nvSpPr>
          <p:cNvPr id="9" name="Freeform 9"/>
          <p:cNvSpPr/>
          <p:nvPr/>
        </p:nvSpPr>
        <p:spPr>
          <a:xfrm>
            <a:off x="1301598" y="4919394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509289" y="6069152"/>
            <a:ext cx="4447623" cy="102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26">
                <a:solidFill>
                  <a:srgbClr val="222222"/>
                </a:solidFill>
                <a:latin typeface="Bebas Neue"/>
                <a:ea typeface="Bebas Neue"/>
                <a:cs typeface="Bebas Neue"/>
                <a:sym typeface="Bebas Neue"/>
              </a:rPr>
              <a:t>Filter by post type, month and hashtag; </a:t>
            </a:r>
            <a:r>
              <a:rPr lang="en-US" sz="2759" b="1" spc="-26">
                <a:solidFill>
                  <a:srgbClr val="DE2F6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click any bar to filter every chart</a:t>
            </a:r>
            <a:r>
              <a:rPr lang="en-US" sz="2759" spc="-26">
                <a:solidFill>
                  <a:srgbClr val="222222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9305" y="9538558"/>
            <a:ext cx="3968733" cy="3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1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Sugar Cosmetics | Instagram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08747" y="1465947"/>
            <a:ext cx="1182286" cy="3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16" dirty="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Dashboard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017598" y="1497682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393952" y="1924030"/>
            <a:ext cx="1750048" cy="655919"/>
          </a:xfrm>
          <a:custGeom>
            <a:avLst/>
            <a:gdLst/>
            <a:ahLst/>
            <a:cxnLst/>
            <a:rect l="l" t="t" r="r" b="b"/>
            <a:pathLst>
              <a:path w="1750048" h="655919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9144000" y="1924030"/>
            <a:ext cx="1968804" cy="655919"/>
          </a:xfrm>
          <a:custGeom>
            <a:avLst/>
            <a:gdLst/>
            <a:ahLst/>
            <a:cxnLst/>
            <a:rect l="l" t="t" r="r" b="b"/>
            <a:pathLst>
              <a:path w="1968804" h="655919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1101866" y="1924030"/>
            <a:ext cx="1968804" cy="655919"/>
          </a:xfrm>
          <a:custGeom>
            <a:avLst/>
            <a:gdLst/>
            <a:ahLst/>
            <a:cxnLst/>
            <a:rect l="l" t="t" r="r" b="b"/>
            <a:pathLst>
              <a:path w="1968804" h="655919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7393952" y="2569017"/>
            <a:ext cx="1750048" cy="1289974"/>
          </a:xfrm>
          <a:custGeom>
            <a:avLst/>
            <a:gdLst/>
            <a:ahLst/>
            <a:cxnLst/>
            <a:rect l="l" t="t" r="r" b="b"/>
            <a:pathLst>
              <a:path w="1750048" h="1289974">
                <a:moveTo>
                  <a:pt x="0" y="0"/>
                </a:moveTo>
                <a:lnTo>
                  <a:pt x="1750048" y="0"/>
                </a:lnTo>
                <a:lnTo>
                  <a:pt x="1750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7977987" y="3158799"/>
            <a:ext cx="515405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50K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0" y="2569017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632699" y="3158799"/>
            <a:ext cx="1136342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 dirty="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987.42M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101866" y="2569017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1615803" y="3158799"/>
            <a:ext cx="1064986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147.73M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059732" y="2569017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3653087" y="3158799"/>
            <a:ext cx="933493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18.46M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017598" y="2569017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15527712" y="3158799"/>
            <a:ext cx="994412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9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18.55%</a:t>
            </a:r>
          </a:p>
        </p:txBody>
      </p:sp>
      <p:sp>
        <p:nvSpPr>
          <p:cNvPr id="28" name="Freeform 28"/>
          <p:cNvSpPr/>
          <p:nvPr/>
        </p:nvSpPr>
        <p:spPr>
          <a:xfrm>
            <a:off x="7393952" y="4066699"/>
            <a:ext cx="3062584" cy="2372241"/>
          </a:xfrm>
          <a:custGeom>
            <a:avLst/>
            <a:gdLst/>
            <a:ahLst/>
            <a:cxnLst/>
            <a:rect l="l" t="t" r="r" b="b"/>
            <a:pathLst>
              <a:path w="3062584" h="2372241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445598" y="4066699"/>
            <a:ext cx="3062584" cy="2372241"/>
          </a:xfrm>
          <a:custGeom>
            <a:avLst/>
            <a:gdLst/>
            <a:ahLst/>
            <a:cxnLst/>
            <a:rect l="l" t="t" r="r" b="b"/>
            <a:pathLst>
              <a:path w="3062584" h="2372241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0445598" y="4711687"/>
            <a:ext cx="3062584" cy="1508614"/>
          </a:xfrm>
          <a:custGeom>
            <a:avLst/>
            <a:gdLst/>
            <a:ahLst/>
            <a:cxnLst/>
            <a:rect l="l" t="t" r="r" b="b"/>
            <a:pathLst>
              <a:path w="3062584" h="150861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13716000" y="4066699"/>
            <a:ext cx="3270402" cy="2372241"/>
          </a:xfrm>
          <a:custGeom>
            <a:avLst/>
            <a:gdLst/>
            <a:ahLst/>
            <a:cxnLst/>
            <a:rect l="l" t="t" r="r" b="b"/>
            <a:pathLst>
              <a:path w="3270402" h="2372241">
                <a:moveTo>
                  <a:pt x="0" y="0"/>
                </a:moveTo>
                <a:lnTo>
                  <a:pt x="3270402" y="0"/>
                </a:lnTo>
                <a:lnTo>
                  <a:pt x="327040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7393952" y="6428009"/>
            <a:ext cx="3062584" cy="1716322"/>
          </a:xfrm>
          <a:custGeom>
            <a:avLst/>
            <a:gdLst/>
            <a:ahLst/>
            <a:cxnLst/>
            <a:rect l="l" t="t" r="r" b="b"/>
            <a:pathLst>
              <a:path w="3062584" h="1716322">
                <a:moveTo>
                  <a:pt x="0" y="0"/>
                </a:moveTo>
                <a:lnTo>
                  <a:pt x="3062584" y="0"/>
                </a:lnTo>
                <a:lnTo>
                  <a:pt x="3062584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7393952" y="7062064"/>
            <a:ext cx="2843828" cy="874559"/>
          </a:xfrm>
          <a:custGeom>
            <a:avLst/>
            <a:gdLst/>
            <a:ahLst/>
            <a:cxnLst/>
            <a:rect l="l" t="t" r="r" b="b"/>
            <a:pathLst>
              <a:path w="2843828" h="874559">
                <a:moveTo>
                  <a:pt x="0" y="0"/>
                </a:moveTo>
                <a:lnTo>
                  <a:pt x="2843828" y="0"/>
                </a:lnTo>
                <a:lnTo>
                  <a:pt x="284382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0445598" y="6428009"/>
            <a:ext cx="3270402" cy="1716322"/>
          </a:xfrm>
          <a:custGeom>
            <a:avLst/>
            <a:gdLst/>
            <a:ahLst/>
            <a:cxnLst/>
            <a:rect l="l" t="t" r="r" b="b"/>
            <a:pathLst>
              <a:path w="3270402" h="1716322">
                <a:moveTo>
                  <a:pt x="0" y="0"/>
                </a:moveTo>
                <a:lnTo>
                  <a:pt x="3270402" y="0"/>
                </a:lnTo>
                <a:lnTo>
                  <a:pt x="327040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10445598" y="7062064"/>
            <a:ext cx="3062584" cy="874559"/>
          </a:xfrm>
          <a:custGeom>
            <a:avLst/>
            <a:gdLst/>
            <a:ahLst/>
            <a:cxnLst/>
            <a:rect l="l" t="t" r="r" b="b"/>
            <a:pathLst>
              <a:path w="3062584" h="874559">
                <a:moveTo>
                  <a:pt x="0" y="0"/>
                </a:moveTo>
                <a:lnTo>
                  <a:pt x="3062584" y="0"/>
                </a:lnTo>
                <a:lnTo>
                  <a:pt x="306258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13716000" y="6428009"/>
            <a:ext cx="3270402" cy="1716322"/>
          </a:xfrm>
          <a:custGeom>
            <a:avLst/>
            <a:gdLst/>
            <a:ahLst/>
            <a:cxnLst/>
            <a:rect l="l" t="t" r="r" b="b"/>
            <a:pathLst>
              <a:path w="3270402" h="1716322">
                <a:moveTo>
                  <a:pt x="0" y="0"/>
                </a:moveTo>
                <a:lnTo>
                  <a:pt x="3270402" y="0"/>
                </a:lnTo>
                <a:lnTo>
                  <a:pt x="327040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13889885" y="6528482"/>
            <a:ext cx="136384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Comments Over Time</a:t>
            </a:r>
          </a:p>
        </p:txBody>
      </p:sp>
      <p:sp>
        <p:nvSpPr>
          <p:cNvPr id="38" name="Freeform 38"/>
          <p:cNvSpPr/>
          <p:nvPr/>
        </p:nvSpPr>
        <p:spPr>
          <a:xfrm>
            <a:off x="13716000" y="7062064"/>
            <a:ext cx="3270402" cy="874559"/>
          </a:xfrm>
          <a:custGeom>
            <a:avLst/>
            <a:gdLst/>
            <a:ahLst/>
            <a:cxnLst/>
            <a:rect l="l" t="t" r="r" b="b"/>
            <a:pathLst>
              <a:path w="3270402" h="874559">
                <a:moveTo>
                  <a:pt x="0" y="0"/>
                </a:moveTo>
                <a:lnTo>
                  <a:pt x="3270402" y="0"/>
                </a:lnTo>
                <a:lnTo>
                  <a:pt x="327040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15365343" y="1460900"/>
            <a:ext cx="115791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Apr 2024 - Apr 2025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45439" y="4059263"/>
            <a:ext cx="1660788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Engagement Rate by Month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80118" y="2146558"/>
            <a:ext cx="1643639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222222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Click any bar to filter every chart.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88699" y="4058504"/>
            <a:ext cx="1482487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Top Hashtags by Reach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15309" y="4058504"/>
            <a:ext cx="1241743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Reach by Post Type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389435" y="2733150"/>
            <a:ext cx="1427568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Avg. Engagement Rate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17015" y="6528482"/>
            <a:ext cx="1071182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Reach Over Time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651972" y="6528482"/>
            <a:ext cx="1007522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b="1" spc="-10">
                <a:solidFill>
                  <a:srgbClr val="22222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Likes Over Time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736153" y="2733150"/>
            <a:ext cx="66359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222222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Comments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033341" y="2733150"/>
            <a:ext cx="337732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10">
                <a:solidFill>
                  <a:srgbClr val="222222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Posts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08134" y="2733150"/>
            <a:ext cx="381890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5" spc="-10">
                <a:solidFill>
                  <a:srgbClr val="222222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Reach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917964" y="2733150"/>
            <a:ext cx="316925" cy="42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124" spc="-10">
                <a:solidFill>
                  <a:srgbClr val="222222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Likes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C1FE10D-138F-AE93-EC59-F1DDB203A1E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3242" y="1414846"/>
            <a:ext cx="10592718" cy="69481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093780" cy="3224936"/>
          </a:xfrm>
          <a:custGeom>
            <a:avLst/>
            <a:gdLst/>
            <a:ahLst/>
            <a:cxnLst/>
            <a:rect l="l" t="t" r="r" b="b"/>
            <a:pathLst>
              <a:path w="1093780" h="3224936">
                <a:moveTo>
                  <a:pt x="0" y="0"/>
                </a:moveTo>
                <a:lnTo>
                  <a:pt x="1093780" y="0"/>
                </a:lnTo>
                <a:lnTo>
                  <a:pt x="1093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2142670"/>
            <a:ext cx="1968804" cy="7072996"/>
          </a:xfrm>
          <a:custGeom>
            <a:avLst/>
            <a:gdLst/>
            <a:ahLst/>
            <a:cxnLst/>
            <a:rect l="l" t="t" r="r" b="b"/>
            <a:pathLst>
              <a:path w="1968804" h="7072996">
                <a:moveTo>
                  <a:pt x="0" y="0"/>
                </a:moveTo>
                <a:lnTo>
                  <a:pt x="1968804" y="0"/>
                </a:lnTo>
                <a:lnTo>
                  <a:pt x="1968804" y="7072995"/>
                </a:lnTo>
                <a:lnTo>
                  <a:pt x="0" y="707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298607" y="848685"/>
            <a:ext cx="6763493" cy="115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</a:pPr>
            <a:r>
              <a:rPr lang="en-US" sz="8659" b="1">
                <a:solidFill>
                  <a:srgbClr val="10101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9904" y="1872822"/>
            <a:ext cx="5633797" cy="115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</a:pPr>
            <a:r>
              <a:rPr lang="en-US" sz="8659" b="1">
                <a:solidFill>
                  <a:srgbClr val="D42D5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AND NEXT STEPS</a:t>
            </a:r>
          </a:p>
        </p:txBody>
      </p:sp>
      <p:sp>
        <p:nvSpPr>
          <p:cNvPr id="8" name="Freeform 8"/>
          <p:cNvSpPr/>
          <p:nvPr/>
        </p:nvSpPr>
        <p:spPr>
          <a:xfrm>
            <a:off x="1301598" y="3214004"/>
            <a:ext cx="1968804" cy="218640"/>
          </a:xfrm>
          <a:custGeom>
            <a:avLst/>
            <a:gdLst/>
            <a:ahLst/>
            <a:cxnLst/>
            <a:rect l="l" t="t" r="r" b="b"/>
            <a:pathLst>
              <a:path w="1968804" h="218640">
                <a:moveTo>
                  <a:pt x="0" y="0"/>
                </a:moveTo>
                <a:lnTo>
                  <a:pt x="1968804" y="0"/>
                </a:lnTo>
                <a:lnTo>
                  <a:pt x="1968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39110" y="3214004"/>
            <a:ext cx="6759560" cy="4503979"/>
          </a:xfrm>
          <a:custGeom>
            <a:avLst/>
            <a:gdLst/>
            <a:ahLst/>
            <a:cxnLst/>
            <a:rect l="l" t="t" r="r" b="b"/>
            <a:pathLst>
              <a:path w="6759560" h="4503979">
                <a:moveTo>
                  <a:pt x="0" y="0"/>
                </a:moveTo>
                <a:lnTo>
                  <a:pt x="6759560" y="0"/>
                </a:lnTo>
                <a:lnTo>
                  <a:pt x="675956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8487732" y="426348"/>
            <a:ext cx="9373694" cy="1289974"/>
          </a:xfrm>
          <a:custGeom>
            <a:avLst/>
            <a:gdLst/>
            <a:ahLst/>
            <a:cxnLst/>
            <a:rect l="l" t="t" r="r" b="b"/>
            <a:pathLst>
              <a:path w="9373694" h="1289974">
                <a:moveTo>
                  <a:pt x="0" y="0"/>
                </a:moveTo>
                <a:lnTo>
                  <a:pt x="9373694" y="0"/>
                </a:lnTo>
                <a:lnTo>
                  <a:pt x="9373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8706488" y="634055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8487732" y="1705390"/>
            <a:ext cx="9373694" cy="1082267"/>
          </a:xfrm>
          <a:custGeom>
            <a:avLst/>
            <a:gdLst/>
            <a:ahLst/>
            <a:cxnLst/>
            <a:rect l="l" t="t" r="r" b="b"/>
            <a:pathLst>
              <a:path w="9373694" h="1082267">
                <a:moveTo>
                  <a:pt x="0" y="0"/>
                </a:moveTo>
                <a:lnTo>
                  <a:pt x="9373694" y="0"/>
                </a:lnTo>
                <a:lnTo>
                  <a:pt x="9373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8706488" y="1705390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8487732" y="2776725"/>
            <a:ext cx="9373694" cy="1300906"/>
          </a:xfrm>
          <a:custGeom>
            <a:avLst/>
            <a:gdLst/>
            <a:ahLst/>
            <a:cxnLst/>
            <a:rect l="l" t="t" r="r" b="b"/>
            <a:pathLst>
              <a:path w="9373694" h="1300906">
                <a:moveTo>
                  <a:pt x="0" y="0"/>
                </a:moveTo>
                <a:lnTo>
                  <a:pt x="9373694" y="0"/>
                </a:lnTo>
                <a:lnTo>
                  <a:pt x="9373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8706488" y="2995365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9858375" y="3242840"/>
            <a:ext cx="7500938" cy="38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1" spc="-4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Create save-worthy tutorials and shareable content</a:t>
            </a:r>
          </a:p>
        </p:txBody>
      </p:sp>
      <p:sp>
        <p:nvSpPr>
          <p:cNvPr id="17" name="Freeform 17"/>
          <p:cNvSpPr/>
          <p:nvPr/>
        </p:nvSpPr>
        <p:spPr>
          <a:xfrm>
            <a:off x="8487732" y="4066699"/>
            <a:ext cx="9373694" cy="1082267"/>
          </a:xfrm>
          <a:custGeom>
            <a:avLst/>
            <a:gdLst/>
            <a:ahLst/>
            <a:cxnLst/>
            <a:rect l="l" t="t" r="r" b="b"/>
            <a:pathLst>
              <a:path w="9373694" h="1082267">
                <a:moveTo>
                  <a:pt x="0" y="0"/>
                </a:moveTo>
                <a:lnTo>
                  <a:pt x="9373694" y="0"/>
                </a:lnTo>
                <a:lnTo>
                  <a:pt x="9373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Freeform 18"/>
          <p:cNvSpPr/>
          <p:nvPr/>
        </p:nvSpPr>
        <p:spPr>
          <a:xfrm>
            <a:off x="8706488" y="4066699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8487732" y="5138034"/>
            <a:ext cx="9373694" cy="1300906"/>
          </a:xfrm>
          <a:custGeom>
            <a:avLst/>
            <a:gdLst/>
            <a:ahLst/>
            <a:cxnLst/>
            <a:rect l="l" t="t" r="r" b="b"/>
            <a:pathLst>
              <a:path w="9373694" h="1300906">
                <a:moveTo>
                  <a:pt x="0" y="0"/>
                </a:moveTo>
                <a:lnTo>
                  <a:pt x="9373694" y="0"/>
                </a:lnTo>
                <a:lnTo>
                  <a:pt x="9373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8706488" y="5356674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858375" y="5577270"/>
            <a:ext cx="7500938" cy="38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1" spc="-4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Test Friday and Saturday as hypotheses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487732" y="6209369"/>
            <a:ext cx="9373694" cy="1300906"/>
          </a:xfrm>
          <a:custGeom>
            <a:avLst/>
            <a:gdLst/>
            <a:ahLst/>
            <a:cxnLst/>
            <a:rect l="l" t="t" r="r" b="b"/>
            <a:pathLst>
              <a:path w="9373694" h="1300906">
                <a:moveTo>
                  <a:pt x="0" y="0"/>
                </a:moveTo>
                <a:lnTo>
                  <a:pt x="9373694" y="0"/>
                </a:lnTo>
                <a:lnTo>
                  <a:pt x="9373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8706488" y="6428009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9788785" y="6579987"/>
            <a:ext cx="6959036" cy="67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b="1" spc="-42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Fill data gaps (captions</a:t>
            </a:r>
            <a:r>
              <a:rPr lang="en-US" sz="2109" b="1" spc="-4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, timestamps, follower counts, campaign and audience-emotion analysis)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1370" y="7865727"/>
            <a:ext cx="11408310" cy="105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304" b="1" spc="-66">
                <a:solidFill>
                  <a:srgbClr val="10101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Growth will come from content quality and targeted tests,</a:t>
            </a:r>
            <a:r>
              <a:rPr lang="en-US" sz="3304" b="1" spc="-66">
                <a:solidFill>
                  <a:srgbClr val="D42D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not scheduling tweaks.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895" y="9592301"/>
            <a:ext cx="4309767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3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Sugar Cosmetics | Instagram Insights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58375" y="4417586"/>
            <a:ext cx="7500938" cy="35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321" b="1" spc="-46" dirty="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Replicate the traits of top engagement posts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58375" y="2083155"/>
            <a:ext cx="7500938" cy="38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1" spc="-4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Don’t shift budget between formats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58375" y="908410"/>
            <a:ext cx="7500938" cy="38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1" spc="-4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Keep the daily posting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682</Words>
  <Application>Microsoft Office PowerPoint</Application>
  <PresentationFormat>Custom</PresentationFormat>
  <Paragraphs>234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Inter Bold</vt:lpstr>
      <vt:lpstr>Bebas Neue</vt:lpstr>
      <vt:lpstr>Inter Semi-Bold</vt:lpstr>
      <vt:lpstr>Calibri</vt:lpstr>
      <vt:lpstr>Bebas Neue Bold</vt:lpstr>
      <vt:lpstr>Inter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Cosmetics Instagram Insights</dc:title>
  <cp:lastModifiedBy>Sunint Kaur Sunint Kaur</cp:lastModifiedBy>
  <cp:revision>3</cp:revision>
  <dcterms:created xsi:type="dcterms:W3CDTF">2006-08-16T00:00:00Z</dcterms:created>
  <dcterms:modified xsi:type="dcterms:W3CDTF">2026-10-19T04:11:39Z</dcterms:modified>
  <dc:identifier>DAHYaxtRd4w</dc:identifier>
</cp:coreProperties>
</file>